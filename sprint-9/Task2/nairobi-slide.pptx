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cc53ad9b9b48d7" /><Relationship Type="http://schemas.openxmlformats.org/officeDocument/2006/relationships/extended-properties" Target="/docProps/app.xml" Id="Rc68dbe7c0f524de2" /><Relationship Type="http://schemas.openxmlformats.org/officeDocument/2006/relationships/officeDocument" Target="/ppt/presentation.xml" Id="Ra17baa87aafd4b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2f46699dbe428a"/>
  </p:sldMasterIdLst>
  <p:notesMasterIdLst>
    <p:notesMasterId xmlns:r="http://schemas.openxmlformats.org/officeDocument/2006/relationships" r:id="R4012cd6d78224293"/>
  </p:notesMasterIdLst>
  <p:sldIdLst>
    <p:sldId xmlns:r="http://schemas.openxmlformats.org/officeDocument/2006/relationships" id="256" r:id="R1eded23b0cdb44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efaa9d67144af9" /><Relationship Type="http://schemas.openxmlformats.org/officeDocument/2006/relationships/slideMaster" Target="/ppt/slideMasters/slideMaster1.xml" Id="R1b2f46699dbe428a" /><Relationship Type="http://schemas.openxmlformats.org/officeDocument/2006/relationships/notesMaster" Target="/ppt/notesMasters/notesMaster1.xml" Id="R4012cd6d78224293" /><Relationship Type="http://schemas.openxmlformats.org/officeDocument/2006/relationships/presProps" Target="/ppt/presProps.xml" Id="R5637f0e1780c4839" /><Relationship Type="http://schemas.openxmlformats.org/officeDocument/2006/relationships/viewProps" Target="/ppt/viewProps.xml" Id="R63769bc2d6e546f7" /><Relationship Type="http://schemas.openxmlformats.org/officeDocument/2006/relationships/tableStyles" Target="/ppt/tableStyles.xml" Id="R6efa262b06b046a0" /><Relationship Type="http://schemas.openxmlformats.org/officeDocument/2006/relationships/slide" Target="/ppt/slides/slide1.xml" Id="R1eded23b0cdb44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1f0241de0a4e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3b087aa93c4895" /><Relationship Type="http://schemas.openxmlformats.org/officeDocument/2006/relationships/notesMaster" Target="/ppt/notesMasters/notesMaster1.xml" Id="Re8ce519f9ccf4f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Task2/options-comparison.md, разделы «A: облачные ресурсы и полная смета» и «Итоговое сравнение стоимости и сроков». При 5000 заказов/мес.: инфраструктура и SaaS с резервом 20% — $6474,70; интеграции — $3261,67; всего $9736,37, на слайде округлено. С дежурствами $2400 — $12136,37 до базового ФОТ. WAF не включён: ещё $500 × 1,2 = $600/мес. Лимит $5000 относится к инфраструктуре и SaaS. Пятилетний TCO и стоимость заказа прежней модели требуют согласования с детальной сметой. Сроки предполагают полное окно разработки. Транскрипт: Task2/nairobi-script.md.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25719250b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08f3e5524a4198" /><Relationship Type="http://schemas.openxmlformats.org/officeDocument/2006/relationships/slideLayout" Target="/ppt/slideLayouts/slideLayout1.xml" Id="Rf481fa7d35b94d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1fa7d35b94d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3bf1c3e144bb0" /><Relationship Type="http://schemas.openxmlformats.org/officeDocument/2006/relationships/notesSlide" Target="/ppt/notesSlides/notesSlide1.xml" Id="R9bfc537be82c4c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357CDEE-12BB-4124-A9D0-C7E84707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Africa Delivery: решение для запуска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6C178C-F426-44F5-A9B5-2430AA6D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15 октября · Нигерия · согласованные зоны доставки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D9D295-203C-466F-A654-80A86A25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26D5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6D5A"/>
                </a:solidFill>
                <a:latin typeface="Arial"/>
                <a:ea typeface="Arial"/>
                <a:cs typeface="Arial"/>
              </a:rPr>
              <a:t>Модульный монолит + партнёры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C83525D-5CA6-43F0-A977-4A377E00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5286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26D5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26D5A"/>
                </a:solidFill>
                <a:latin typeface="Arial"/>
                <a:ea typeface="Arial"/>
                <a:cs typeface="Arial"/>
              </a:rPr>
              <a:t>$</a:t>
            </a:r>
            <a:r>
              <a:rPr sz="4650" b="1">
                <a:solidFill>
                  <a:srgbClr val="126D5A"/>
                </a:solidFill>
                <a:latin typeface="Arial"/>
                <a:ea typeface="Arial"/>
                <a:cs typeface="Arial"/>
              </a:rPr>
              <a:t>9 736 </a:t>
            </a:r>
            <a:r>
              <a:rPr sz="4650" b="1">
                <a:solidFill>
                  <a:srgbClr val="126D5A"/>
                </a:solidFill>
                <a:latin typeface="Arial"/>
                <a:ea typeface="Arial"/>
                <a:cs typeface="Arial"/>
              </a:rPr>
              <a:t>/ </a:t>
            </a:r>
            <a:r>
              <a:rPr sz="4650" b="1">
                <a:solidFill>
                  <a:srgbClr val="126D5A"/>
                </a:solidFill>
                <a:latin typeface="Arial"/>
                <a:ea typeface="Arial"/>
                <a:cs typeface="Arial"/>
              </a:rPr>
              <a:t>мес</a:t>
            </a:r>
            <a:r>
              <a:rPr sz="4650" b="1">
                <a:solidFill>
                  <a:srgbClr val="126D5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44744E-27AE-4F26-8637-91167801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9074"/>
            <a:ext cx="5867400" cy="127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334D"/>
                </a:solidFill>
                <a:latin typeface="Arial"/>
                <a:ea typeface="Arial"/>
                <a:cs typeface="Arial"/>
              </a:rPr>
              <a:t>При 5 тыс. заказов:</a:t>
            </a:r>
          </a:p>
          <a:p xmlns:a="http://schemas.openxmlformats.org/drawingml/2006/main">
            <a:pPr>
              <a:buNone/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334D"/>
                </a:solidFill>
                <a:latin typeface="Arial"/>
                <a:ea typeface="Arial"/>
                <a:cs typeface="Arial"/>
              </a:rPr>
              <a:t>инфраструктура — $6 474,70 с резервом;</a:t>
            </a:r>
          </a:p>
          <a:p xmlns:a="http://schemas.openxmlformats.org/drawingml/2006/main">
            <a:pPr>
              <a:buNone/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334D"/>
                </a:solidFill>
                <a:latin typeface="Arial"/>
                <a:ea typeface="Arial"/>
                <a:cs typeface="Arial"/>
              </a:rPr>
              <a:t>интеграции — $3 261,67.</a:t>
            </a:r>
          </a:p>
          <a:p xmlns:a="http://schemas.openxmlformats.org/drawingml/2006/main">
            <a:pPr>
              <a:buNone/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334D"/>
                </a:solidFill>
                <a:latin typeface="Arial"/>
                <a:ea typeface="Arial"/>
                <a:cs typeface="Arial"/>
              </a:rPr>
              <a:t>Без ФОТ и компенсации дежурств.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8BC507-2717-4BDA-86DA-88710E81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710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+$1 474,70 / мес.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8052F5E-47F8-477F-A9F7-B1F8A46A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22575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превышение лимита $5 000</a:t>
            </a:r>
          </a:p>
          <a:p xmlns:a="http://schemas.openxmlformats.org/drawingml/2006/main">
            <a:pPr>
              <a:buNone/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на инфраструктуру и SaaS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3F5DD24-B2A2-48AC-B0EF-407997D8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Команда и срок подготовки запуска</a:t>
            </a:r>
            <a:endParaRPr sz="1875" b="1">
              <a:solidFill>
                <a:srgbClr val="1733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66A4EBD-7462-4768-84FD-B3B50DB8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3476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26D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D5A"/>
                </a:solidFill>
                <a:latin typeface="Arial"/>
                <a:ea typeface="Arial"/>
                <a:cs typeface="Arial"/>
              </a:rPr>
              <a:t>A. Монолит</a:t>
            </a:r>
            <a:endParaRPr sz="1950" b="1">
              <a:solidFill>
                <a:srgbClr val="126D5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950" b="1">
                <a:solidFill>
                  <a:srgbClr val="126D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D5A"/>
                </a:solidFill>
                <a:latin typeface="Arial"/>
                <a:ea typeface="Arial"/>
                <a:cs typeface="Arial"/>
              </a:rPr>
              <a:t>6 человек · 8 недель</a:t>
            </a:r>
            <a:endParaRPr sz="1950" b="1">
              <a:solidFill>
                <a:srgbClr val="126D5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9AB26DE-4959-4ADC-B97E-57032191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76775"/>
            <a:ext cx="3571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B. 5 сервисов</a:t>
            </a:r>
          </a:p>
          <a:p xmlns:a="http://schemas.openxmlformats.org/drawingml/2006/main">
            <a:pPr>
              <a:buNone/>
              <a:defRPr sz="19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8 человек · 10–12 недель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4A720E-158E-43CB-AAD5-A65CA7AE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676775"/>
            <a:ext cx="3476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C. Вариант CTO</a:t>
            </a:r>
          </a:p>
          <a:p xmlns:a="http://schemas.openxmlformats.org/drawingml/2006/main">
            <a:pPr>
              <a:buNone/>
              <a:defRPr sz="19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14 человек · 24–32 недели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D965817-E07C-48D6-A669-4EEF0F9D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1096625" cy="61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Согласовать бюджет или оптимизировать ресурсы. Кению, свою логистику и Kubernetes отложить.</a:t>
            </a:r>
            <a:endParaRPr sz="1800" b="1">
              <a:solidFill>
                <a:srgbClr val="1733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E168913-E0D2-4274-A033-43D6DC16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38875"/>
            <a:ext cx="1109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Оценка без WAF (+$600 с резервом). TCO и стоимость заказа требуют пересчёта.</a:t>
            </a:r>
          </a:p>
        </p:txBody>
      </p:sp>
    </p:spTree>
    <p:extLst>
      <p:ext uri="{BB962C8B-B14F-4D97-AF65-F5344CB8AC3E}">
        <p14:creationId xmlns:p14="http://schemas.microsoft.com/office/powerpoint/2010/main" val="1930265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2026-09-27T21:45:28.1520000Z</dcterms:created>
  <dcterms:modified xsi:type="dcterms:W3CDTF">2026-09-27T21:45:28.1520000Z</dcterms:modified>
</coreProperties>
</file>