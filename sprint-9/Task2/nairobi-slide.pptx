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4f89423ec96412e" /><Relationship Type="http://schemas.openxmlformats.org/officeDocument/2006/relationships/extended-properties" Target="/docProps/app.xml" Id="R0c8a8a84416241e9" /><Relationship Type="http://schemas.openxmlformats.org/officeDocument/2006/relationships/officeDocument" Target="/ppt/presentation.xml" Id="R354d5f130b0d4d6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b83f93a53884817"/>
  </p:sldMasterIdLst>
  <p:notesMasterIdLst>
    <p:notesMasterId xmlns:r="http://schemas.openxmlformats.org/officeDocument/2006/relationships" r:id="R82df0e0198904497"/>
  </p:notesMasterIdLst>
  <p:sldIdLst>
    <p:sldId xmlns:r="http://schemas.openxmlformats.org/officeDocument/2006/relationships" id="256" r:id="R50c6e3ff8f09480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817703f4f674be5" /><Relationship Type="http://schemas.openxmlformats.org/officeDocument/2006/relationships/slideMaster" Target="/ppt/slideMasters/slideMaster1.xml" Id="R3b83f93a53884817" /><Relationship Type="http://schemas.openxmlformats.org/officeDocument/2006/relationships/notesMaster" Target="/ppt/notesMasters/notesMaster1.xml" Id="R82df0e0198904497" /><Relationship Type="http://schemas.openxmlformats.org/officeDocument/2006/relationships/presProps" Target="/ppt/presProps.xml" Id="R065b3e5980c742cf" /><Relationship Type="http://schemas.openxmlformats.org/officeDocument/2006/relationships/tableStyles" Target="/ppt/tableStyles.xml" Id="Rbbe7d266b8304ff6" /><Relationship Type="http://schemas.openxmlformats.org/officeDocument/2006/relationships/slide" Target="/ppt/slides/slide1.xml" Id="R50c6e3ff8f09480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29cdb99dfef439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18523d6bc1942a5" /><Relationship Type="http://schemas.openxmlformats.org/officeDocument/2006/relationships/notesMaster" Target="/ppt/notesMasters/notesMaster1.xml" Id="R249e0a9372e44d4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Основание: Task1/architecture-canvas.md; артефакты 5 и 6; Task2/options-comparison.md; Task2/tco-model.xlsx, лист Сравнение. Все суммы оценочные. TCO: 5 лет эксплуатации плюс подготовка, резерв 10%, простой выключен. Комиссия 2% all-in требует договора. Транскрипт: Task2/nairobi-script.md. На старте 5000 заказов/мес., М12 50000. При старте разработки 20 сентября восьми недель до 15 октября нет: требуется ограниченный пилот или пересмотр scope/даты.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5bf0483598457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abb36a69f4341a7" /><Relationship Type="http://schemas.openxmlformats.org/officeDocument/2006/relationships/slideLayout" Target="/ppt/slideLayouts/slideLayout1.xml" Id="R2552f7dae8724b8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552f7dae8724b8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d9ef4686df4882" /><Relationship Type="http://schemas.openxmlformats.org/officeDocument/2006/relationships/notesSlide" Target="/ppt/notesSlides/notesSlide1.xml" Id="R4e55e1f481524ee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57CDEE-12BB-4124-A9D0-C7E84707E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"/>
            <a:ext cx="1114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Africa Delivery: решение для запуска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6C178C-F426-44F5-A9B5-2430AA6DC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90600"/>
            <a:ext cx="1114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15 октября · Нигерия · согласованные зоны доставки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D9D295-203C-466F-A654-80A86A250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26D5A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26D5A"/>
                </a:solidFill>
                <a:latin typeface="Arial"/>
                <a:ea typeface="Arial"/>
                <a:cs typeface="Arial"/>
              </a:rPr>
              <a:t>Модульный монолит + партнёры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83525D-5CA6-43F0-A977-4A377E000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52863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126D5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26D5A"/>
                </a:solidFill>
                <a:latin typeface="Arial"/>
                <a:ea typeface="Arial"/>
                <a:cs typeface="Arial"/>
              </a:rPr>
              <a:t>$4 610 / мес.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44744E-27AE-4F26-8637-91167801E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209925"/>
            <a:ext cx="5476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при 5 тыс. заказов, включая комиссии</a:t>
            </a:r>
          </a:p>
          <a:p xmlns:a="http://schemas.openxmlformats.org/drawingml/2006/main">
            <a:pPr>
              <a:defRPr sz="187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и резерв мощности. Лимит $5 000.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8BC507-2717-4BDA-86DA-88710E817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457450"/>
            <a:ext cx="523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$8,23 → $1,52 / заказ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052F5E-47F8-477F-A9F7-B1F8A46A8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209925"/>
            <a:ext cx="523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с ФОТ: запуск → месяц 12</a:t>
            </a:r>
          </a:p>
          <a:p xmlns:a="http://schemas.openxmlformats.org/drawingml/2006/main">
            <a:pPr>
              <a:defRPr sz="187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при росте до 50 тыс. заказов / мес.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F5DD24-B2A2-48AC-B0EF-407997D8F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19575"/>
            <a:ext cx="1085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TCO за 5 лет с ФОТ и резервом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6A4EBD-7462-4768-84FD-B3B50DB8F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76775"/>
            <a:ext cx="3476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26D5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26D5A"/>
                </a:solidFill>
                <a:latin typeface="Arial"/>
                <a:ea typeface="Arial"/>
                <a:cs typeface="Arial"/>
              </a:rPr>
              <a:t>A. Монолит</a:t>
            </a:r>
          </a:p>
          <a:p xmlns:a="http://schemas.openxmlformats.org/drawingml/2006/main">
            <a:pPr>
              <a:defRPr sz="1950" b="1">
                <a:solidFill>
                  <a:srgbClr val="126D5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26D5A"/>
                </a:solidFill>
                <a:latin typeface="Arial"/>
                <a:ea typeface="Arial"/>
                <a:cs typeface="Arial"/>
              </a:rPr>
              <a:t>$22,08 млн · 6 человек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AB26DE-4959-4ADC-B97E-570321916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676775"/>
            <a:ext cx="35718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B. 5 сервисов</a:t>
            </a:r>
          </a:p>
          <a:p xmlns:a="http://schemas.openxmlformats.org/drawingml/2006/main">
            <a:pPr>
              <a:defRPr sz="1950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$22,95 млн · 8 человек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4A720E-158E-43CB-AAD5-A65CA7AEF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676775"/>
            <a:ext cx="3476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C. Вариант CTO</a:t>
            </a:r>
          </a:p>
          <a:p xmlns:a="http://schemas.openxmlformats.org/drawingml/2006/main">
            <a:pPr>
              <a:defRPr sz="1950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$27,75 млн · 14 человек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965817-E07C-48D6-A669-4EEF0F9D2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86425"/>
            <a:ext cx="110966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Утвердить scope и договоры. Кению, свою логистику и Kubernetes отложить.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168913-E0D2-4274-A033-43D6DC169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38875"/>
            <a:ext cx="11096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657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56577"/>
                </a:solidFill>
                <a:latin typeface="Arial"/>
                <a:ea typeface="Arial"/>
                <a:cs typeface="Arial"/>
              </a:rPr>
              <a:t>Плановые оценки. Перевозка и маркетинг вне TCO. Срок требует полного окна разработки.</a:t>
            </a:r>
          </a:p>
        </p:txBody>
      </p:sp>
    </p:spTree>
    <p:extLst>
      <p:ext uri="{BB962C8B-B14F-4D97-AF65-F5344CB8AC3E}">
        <p14:creationId xmlns:p14="http://schemas.microsoft.com/office/powerpoint/2010/main" val="19302654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2026-09-20T00:48:55.0850000Z</dcterms:created>
  <dcterms:modified xsi:type="dcterms:W3CDTF">2026-09-20T00:48:55.0850000Z</dcterms:modified>
</coreProperties>
</file>